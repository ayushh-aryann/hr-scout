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D84D"/>
                </a:solidFill>
                <a:latin typeface="Segoe UI"/>
              </a:rPr>
              <a:t>HR Scout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Segoe UI"/>
              </a:rPr>
              <a:t>AI-Powered Candidate Shortlisting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29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7280"/>
                </a:solidFill>
                <a:latin typeface="Segoe UI"/>
              </a:rPr>
              <a:t>Automated JD Parsing  •  Resume Ingestion  •  Semantic Scoring  •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Built by Ayush Aryan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035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6B7280"/>
                </a:solidFill>
                <a:latin typeface="Segoe U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Manual resume screening is broken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011680" cy="658368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224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250+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748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resumes per job posting on average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2011680" cy="658368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3368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23 hrs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4892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average recruiter time per hire on screening alone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2011680" cy="658368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32512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37%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4036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of qualified candidates rejected due to keyword-only ATS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2011680" cy="658368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41656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High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3180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inconsistent scoring across HR reviewers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029200"/>
            <a:ext cx="2011680" cy="658368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5080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No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523240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Segoe UI"/>
              </a:rPr>
              <a:t>manual processes leave no traceable decision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HR Scout — end-to-end AI shortlisting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3474720" cy="21488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JD Parser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74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Extract structured requirements from any job description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280160"/>
            <a:ext cx="3474720" cy="21488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Resume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874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PDF, DOCX, and LinkedIn JSON in one drag-drop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3474720" cy="21488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417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Semantic Scoring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87452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5-dimension weighted rubric with embeddings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3886200"/>
            <a:ext cx="4114800" cy="21488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4023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Shortlist Reports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4805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JSON, HTML, and PDF — ready for sharing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886200"/>
            <a:ext cx="4114800" cy="21488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80760" y="4023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Human Override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4805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Audit-trailed corrections with full justification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Custom pipeline — no LangChain overhead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651760" cy="4206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PDF/DOCX/JSON
LinkedIn Export
JD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463040"/>
            <a:ext cx="2651760" cy="4206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Parse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JD Parser
Resume Parser
LinkedIn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651760" cy="420624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0A0B"/>
                </a:solidFill>
                <a:latin typeface="Segoe UI"/>
              </a:rPr>
              <a:t>Score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A0B"/>
                </a:solidFill>
                <a:latin typeface="Segoe UI"/>
              </a:rPr>
              <a:t>Embeddings
Rubric Engine
LLM Scoring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329184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84D"/>
                </a:solidFill>
                <a:latin typeface="Segoe UI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463040"/>
            <a:ext cx="2651760" cy="4206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84D"/>
                </a:solidFill>
                <a:latin typeface="Segoe UI"/>
              </a:rPr>
              <a:t>Output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148840"/>
            <a:ext cx="2377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JSON Report
HTML Report
PDF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21792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Segoe UI"/>
              </a:rPr>
              <a:t>FastAPI REST backend  •  React 18 SPA (CDN, no build step)  •  Pydantic validation  •  sentence-transformers embeddings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LLM + semantic embeddings + heuristic fallback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219456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411480" cy="41148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84D"/>
                </a:solidFill>
                <a:latin typeface="Segoe UI"/>
              </a:rPr>
              <a:t>Sanitize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Strip prompt-injection patterns
12 regex rules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566160" cy="219456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508760"/>
            <a:ext cx="411480" cy="41148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B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84D"/>
                </a:solidFill>
                <a:latin typeface="Segoe UI"/>
              </a:rPr>
              <a:t>Parse JD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0574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LLM → structured JDProfile
Heuristic fallback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566160" cy="219456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366760" y="1508760"/>
            <a:ext cx="411480" cy="41148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14630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B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84D"/>
                </a:solidFill>
                <a:latin typeface="Segoe UI"/>
              </a:rPr>
              <a:t>Parse CVs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05740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PDF/DOCX text extraction
LLM → CandidateProfile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3566160" cy="219456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977640"/>
            <a:ext cx="411480" cy="41148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B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84D"/>
                </a:solidFill>
                <a:latin typeface="Segoe UI"/>
              </a:rPr>
              <a:t>Embed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5262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sentence-transformers
cosine similarity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840480"/>
            <a:ext cx="3566160" cy="219456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434840" y="3977640"/>
            <a:ext cx="411480" cy="41148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3484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B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977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84D"/>
                </a:solidFill>
                <a:latin typeface="Segoe UI"/>
              </a:rPr>
              <a:t>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0" y="45262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5-dimension rubric
Weighted 30/25/15/20/10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840480"/>
            <a:ext cx="3566160" cy="219456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66760" y="3977640"/>
            <a:ext cx="411480" cy="41148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66760" y="3931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0B"/>
                </a:solidFill>
                <a:latin typeface="Segoe U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977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84D"/>
                </a:solidFill>
                <a:latin typeface="Segoe UI"/>
              </a:rPr>
              <a:t>Rank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262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Sort by total score
Recommendation 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446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Segoe UI"/>
              </a:rPr>
              <a:t>No API key required — heuristic mode enables full demo without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Scoring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5 dimensions — tamper-proof via Pydantic validators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338560" cy="41148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216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216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216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What it measures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45920"/>
            <a:ext cx="11338560" cy="777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Skills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8288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84D"/>
                </a:solidFill>
                <a:latin typeface="Segoe UI"/>
              </a:rPr>
              <a:t>30%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920240"/>
            <a:ext cx="1645920" cy="228600"/>
          </a:xfrm>
          <a:prstGeom prst="rect">
            <a:avLst/>
          </a:prstGeom>
          <a:solidFill>
            <a:srgbClr val="2D2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1920240"/>
            <a:ext cx="1645920" cy="2286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Semantic overlap + exact keyword 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14600"/>
            <a:ext cx="11338560" cy="77724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697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Experience Relevance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974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84D"/>
                </a:solidFill>
                <a:latin typeface="Segoe UI"/>
              </a:rPr>
              <a:t>25%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2788920"/>
            <a:ext cx="1645920" cy="228600"/>
          </a:xfrm>
          <a:prstGeom prst="rect">
            <a:avLst/>
          </a:prstGeom>
          <a:solidFill>
            <a:srgbClr val="2D2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60720" y="2788920"/>
            <a:ext cx="1371600" cy="2286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0" y="2697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Years, seniority, domain alignment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383280"/>
            <a:ext cx="11338560" cy="777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Education &amp; Certs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56616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84D"/>
                </a:solidFill>
                <a:latin typeface="Segoe UI"/>
              </a:rPr>
              <a:t>15%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3657600"/>
            <a:ext cx="1645920" cy="228600"/>
          </a:xfrm>
          <a:prstGeom prst="rect">
            <a:avLst/>
          </a:prstGeom>
          <a:solidFill>
            <a:srgbClr val="2D2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60720" y="3657600"/>
            <a:ext cx="822960" cy="2286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0" y="3566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Degree level, relevant certifications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51960"/>
            <a:ext cx="11338560" cy="77724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434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Project Portfolio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43484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84D"/>
                </a:solidFill>
                <a:latin typeface="Segoe UI"/>
              </a:rPr>
              <a:t>20%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4526280"/>
            <a:ext cx="1645920" cy="228600"/>
          </a:xfrm>
          <a:prstGeom prst="rect">
            <a:avLst/>
          </a:prstGeom>
          <a:solidFill>
            <a:srgbClr val="2D2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0720" y="4526280"/>
            <a:ext cx="1097280" cy="2286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0" y="4434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Relevant projects, GitHub, impact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20640"/>
            <a:ext cx="11338560" cy="777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Communication Quality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53035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D84D"/>
                </a:solidFill>
                <a:latin typeface="Segoe UI"/>
              </a:rPr>
              <a:t>10%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760720" y="5394960"/>
            <a:ext cx="1645920" cy="228600"/>
          </a:xfrm>
          <a:prstGeom prst="rect">
            <a:avLst/>
          </a:prstGeom>
          <a:solidFill>
            <a:srgbClr val="2D2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760720" y="5394960"/>
            <a:ext cx="548640" cy="2286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Writing clarity, formatting, structure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Segoe UI"/>
              </a:rPr>
              <a:t>Pydantic model_validator recomputes weighted_contribution after every LLM response — scores cannot be inflated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Security 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Defense-in-depth for production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338560" cy="8229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548640" cy="54864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43560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Prompt Injection Defense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4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12 regex patterns block 'ignore previous instructions', jailbreaks, system tags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31720"/>
            <a:ext cx="11338560" cy="8229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2468880"/>
            <a:ext cx="548640" cy="54864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244144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B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423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PII Masking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706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Email, phone, SSN, passport masked in all audit logs before persistence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11338560" cy="8229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3474720"/>
            <a:ext cx="548640" cy="54864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44728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B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29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API Key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77647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X-API-Key header; .env-only storage; never hardcoded in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343400"/>
            <a:ext cx="11338560" cy="8229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4480560"/>
            <a:ext cx="548640" cy="54864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445312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B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4348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Input Validation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78231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Pydantic strict types on every model field; scores clamped to 0–10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349240"/>
            <a:ext cx="11338560" cy="8229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5486400"/>
            <a:ext cx="548640" cy="54864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5458968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0B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406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Audit Trail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78815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Segoe UI"/>
              </a:rPr>
              <a:t>Append-only JSONL log; all overrides signed with HR user + timestamp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Demo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Live app — React SPA + FastAPI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697" y="1115568"/>
            <a:ext cx="5167343" cy="27325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41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Segoe UI"/>
              </a:rPr>
              <a:t>Dashboard / Landing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0416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Segoe UI"/>
              </a:rPr>
              <a:t>Upload &amp; JD Entry</a:t>
            </a:r>
          </a:p>
        </p:txBody>
      </p:sp>
      <p:pic>
        <p:nvPicPr>
          <p:cNvPr id="10" name="Picture 9" descr="04_ranking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59"/>
            <a:ext cx="5760720" cy="249665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4320" y="6876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Segoe UI"/>
              </a:rPr>
              <a:t>Ranking Table</a:t>
            </a:r>
          </a:p>
        </p:txBody>
      </p:sp>
      <p:pic>
        <p:nvPicPr>
          <p:cNvPr id="12" name="Picture 11" descr="07_api_do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041648"/>
            <a:ext cx="5043835" cy="2651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17920" y="68762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Segoe UI"/>
              </a:rPr>
              <a:t>API Documentation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5AFB4FC-7AB8-378C-79A3-682892175A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786" y="1137197"/>
            <a:ext cx="4782974" cy="2838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Sample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6B7280"/>
                </a:solidFill>
                <a:latin typeface="Segoe UI"/>
              </a:rPr>
              <a:t>5 candidates scored against </a:t>
            </a:r>
            <a:r>
              <a:rPr lang="en-IN" sz="1300" dirty="0">
                <a:solidFill>
                  <a:srgbClr val="6B7280"/>
                </a:solidFill>
                <a:latin typeface="Segoe UI"/>
              </a:rPr>
              <a:t>AIML</a:t>
            </a:r>
            <a:r>
              <a:rPr sz="1300" b="0" i="0" dirty="0">
                <a:solidFill>
                  <a:srgbClr val="6B7280"/>
                </a:solidFill>
                <a:latin typeface="Segoe UI"/>
              </a:rPr>
              <a:t> Engineer JD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1338560" cy="41148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#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Candidate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Total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618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280"/>
                </a:solidFill>
                <a:latin typeface="Segoe UI"/>
              </a:rPr>
              <a:t>Decision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91640"/>
            <a:ext cx="11338560" cy="777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562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562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Alice Chen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1856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Segoe UI"/>
              </a:rPr>
              <a:t>82.8 / 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874520"/>
            <a:ext cx="2560320" cy="402336"/>
          </a:xfrm>
          <a:prstGeom prst="rect">
            <a:avLst/>
          </a:prstGeom>
          <a:solidFill>
            <a:srgbClr val="00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0" y="18562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Segoe UI"/>
              </a:rPr>
              <a:t>HIRE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606040"/>
            <a:ext cx="11338560" cy="77724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770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7706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Carol Smith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770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Segoe UI"/>
              </a:rPr>
              <a:t>71.5 / 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788920"/>
            <a:ext cx="2560320" cy="402336"/>
          </a:xfrm>
          <a:prstGeom prst="rect">
            <a:avLst/>
          </a:prstGeom>
          <a:solidFill>
            <a:srgbClr val="00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27706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Segoe UI"/>
              </a:rPr>
              <a:t>HIRE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520440"/>
            <a:ext cx="11338560" cy="777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36850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6850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Bob Kumar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6850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A34A"/>
                </a:solidFill>
                <a:latin typeface="Segoe UI"/>
              </a:rPr>
              <a:t>65.2 / 100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703320"/>
            <a:ext cx="2560320" cy="402336"/>
          </a:xfrm>
          <a:prstGeom prst="rect">
            <a:avLst/>
          </a:prstGeom>
          <a:solidFill>
            <a:srgbClr val="000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0" y="36850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Segoe UI"/>
              </a:rPr>
              <a:t>HIRE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434840"/>
            <a:ext cx="11338560" cy="777240"/>
          </a:xfrm>
          <a:prstGeom prst="rect">
            <a:avLst/>
          </a:prstGeom>
          <a:solidFill>
            <a:srgbClr val="1212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02920" y="45994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Segoe U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5994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David Lee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5994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97706"/>
                </a:solidFill>
                <a:latin typeface="Segoe UI"/>
              </a:rPr>
              <a:t>51.7 / 100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86800" y="4617720"/>
            <a:ext cx="2560320" cy="402336"/>
          </a:xfrm>
          <a:prstGeom prst="rect">
            <a:avLst/>
          </a:prstGeom>
          <a:solidFill>
            <a:srgbClr val="4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800" y="45994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97706"/>
                </a:solidFill>
                <a:latin typeface="Segoe UI"/>
              </a:rPr>
              <a:t>BORDERLINE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349240"/>
            <a:ext cx="11338560" cy="77724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513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B7280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138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Emma Jones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55138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C2626"/>
                </a:solidFill>
                <a:latin typeface="Segoe UI"/>
              </a:rPr>
              <a:t>32.4 / 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5532120"/>
            <a:ext cx="2560320" cy="402336"/>
          </a:xfrm>
          <a:prstGeom prst="rect">
            <a:avLst/>
          </a:prstGeom>
          <a:solidFill>
            <a:srgbClr val="43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86800" y="5513832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DC2626"/>
                </a:solidFill>
                <a:latin typeface="Segoe UI"/>
              </a:rPr>
              <a:t>NO HIRE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3523B77-C27D-0106-1A21-8731B08E7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626" y="1172004"/>
            <a:ext cx="5882770" cy="495447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D027E2B7-203F-3380-01E6-C95BFFF53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396" y="1219003"/>
            <a:ext cx="5882770" cy="49074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A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84D"/>
                </a:solidFill>
                <a:latin typeface="Segoe UI"/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Roadmap for production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381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577840" cy="14630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389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LinkedIn Scraper Integration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74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Directly pull profiles via LinkedIn API or scraper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280160"/>
            <a:ext cx="5577840" cy="14630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389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Vector DB (Pinecone / Weaviate)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Store all candidate embeddings for cross-role search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71800"/>
            <a:ext cx="5577840" cy="14630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Bias Audit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5661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Flag demographic proxies; ensure EEOC compliance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71800"/>
            <a:ext cx="5577840" cy="14630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081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Calendar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5661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Auto-schedule interviews for HIRE-tier candidates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5577840" cy="14630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7731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Multi-Tenant SaaS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Per-org scoring weights; SSO; usage metering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4663440"/>
            <a:ext cx="5577840" cy="1463040"/>
          </a:xfrm>
          <a:prstGeom prst="rect">
            <a:avLst/>
          </a:prstGeom>
          <a:solidFill>
            <a:srgbClr val="1A1A1D"/>
          </a:solidFill>
          <a:ln w="6350">
            <a:solidFill>
              <a:srgbClr val="FFD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47731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84D"/>
                </a:solidFill>
                <a:latin typeface="Segoe UI"/>
              </a:rPr>
              <a:t>Candidate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578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Self-service profile updates + status tracker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FD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D84D"/>
                </a:solidFill>
                <a:latin typeface="Segoe UI"/>
              </a:rPr>
              <a:t>HR Scout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Faster hiring. Fairer scoring. Full audit trail.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FastAPI  •  React 18  •  Claude Sonnet  •  sentence-transformers  •  ReportLab  •  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D84D"/>
                </a:solidFill>
                <a:latin typeface="Segoe UI"/>
              </a:rPr>
              <a:t>github.com/ayusharyan/hr-scout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Segoe UI"/>
              </a:rPr>
              <a:t>Built by Ayush Aryan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617</Words>
  <Application>Microsoft Office PowerPoint</Application>
  <PresentationFormat>Custom</PresentationFormat>
  <Paragraphs>154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A</cp:lastModifiedBy>
  <cp:revision>2</cp:revision>
  <dcterms:created xsi:type="dcterms:W3CDTF">2013-01-27T09:14:16Z</dcterms:created>
  <dcterms:modified xsi:type="dcterms:W3CDTF">2026-05-11T15:08:26Z</dcterms:modified>
  <cp:category/>
</cp:coreProperties>
</file>